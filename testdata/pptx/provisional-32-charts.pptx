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000000"/>
                </a:solidFill>
                <a:uFillTx/>
                <a:latin typeface="Arial"/>
              </a:rPr>
              <a:t>Sales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</c:v>
                </c:pt>
                <c:pt idx="1">
                  <c:v>7.5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14</c:v>
                </c:pt>
                <c:pt idx="1">
                  <c:v>8</c:v>
                </c:pt>
                <c:pt idx="2">
                  <c:v>4</c:v>
                </c:pt>
                <c:pt idx="3">
                  <c:v>11</c:v>
                </c:pt>
              </c:numCache>
            </c:numRef>
          </c:val>
        </c:ser>
        <c:gapWidth val="100"/>
        <c:overlap val="0"/>
        <c:axId val="84271010"/>
        <c:axId val="42423173"/>
      </c:barChart>
      <c:catAx>
        <c:axId val="84271010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2423173"/>
        <c:crosses val="autoZero"/>
        <c:auto val="1"/>
        <c:lblAlgn val="ctr"/>
        <c:lblOffset val="100"/>
        <c:noMultiLvlLbl val="0"/>
      </c:catAx>
      <c:valAx>
        <c:axId val="42423173"/>
        <c:scaling>
          <c:orientation val="minMax"/>
        </c:scaling>
        <c:delete val="0"/>
        <c:axPos val="l"/>
        <c:majorGridlines>
          <c:spPr>
            <a:ln w="0">
              <a:solidFill>
                <a:srgbClr val="000000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4271010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000000"/>
                </a:solidFill>
                <a:uFillTx/>
                <a:latin typeface="Arial"/>
              </a:rPr>
              <a:t>Trend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99ccff"/>
              </a:solidFill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99ccff"/>
              </a:solidFill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58528184"/>
        <c:axId val="18638478"/>
      </c:lineChart>
      <c:catAx>
        <c:axId val="5852818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8638478"/>
        <c:crosses val="autoZero"/>
        <c:auto val="1"/>
        <c:lblAlgn val="ctr"/>
        <c:lblOffset val="100"/>
        <c:noMultiLvlLbl val="0"/>
      </c:catAx>
      <c:valAx>
        <c:axId val="18638478"/>
        <c:scaling>
          <c:orientation val="minMax"/>
        </c:scaling>
        <c:delete val="0"/>
        <c:axPos val="l"/>
        <c:majorGridlines>
          <c:spPr>
            <a:ln w="0">
              <a:solidFill>
                <a:srgbClr val="000000"/>
              </a:solidFill>
            </a:ln>
          </c:spPr>
        </c:majorGridlines>
        <c:numFmt formatCode="General" sourceLinked="1"/>
        <c:majorTickMark val="out"/>
        <c:minorTickMark val="none"/>
        <c:tickLblPos val="none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8528184"/>
        <c:crosses val="autoZero"/>
        <c:crossBetween val="midCat"/>
      </c:valAx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000000"/>
                </a:solidFill>
                <a:uFillTx/>
                <a:latin typeface="Arial"/>
              </a:rPr>
              <a:t>Share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explosion val="0"/>
          <c:dPt>
            <c:idx val="0"/>
            <c:spPr>
              <a:solidFill>
                <a:srgbClr val="00000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000000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00000"/>
              </a:solidFill>
              <a:ln w="0">
                <a:noFill/>
              </a:ln>
            </c:spPr>
          </c:dPt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solidFill>
          <a:srgbClr val="d9d9d9"/>
        </a:solidFill>
        <a:ln w="0">
          <a:noFill/>
        </a:ln>
      </c:spPr>
    </c:plotArea>
    <c:legend>
      <c:legendPos val="b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0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360000" y="180000"/>
            <a:ext cx="720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Sales by region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" name=""/>
          <p:cNvGraphicFramePr/>
          <p:nvPr/>
        </p:nvGraphicFramePr>
        <p:xfrm>
          <a:off x="360000" y="720000"/>
          <a:ext cx="576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"/>
          <p:cNvGraphicFramePr/>
          <p:nvPr/>
        </p:nvGraphicFramePr>
        <p:xfrm>
          <a:off x="360000" y="360000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"/>
          <p:cNvGraphicFramePr/>
          <p:nvPr/>
        </p:nvGraphicFramePr>
        <p:xfrm>
          <a:off x="5400000" y="360000"/>
          <a:ext cx="396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